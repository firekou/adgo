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09728" cy="201168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200400"/>
            <a:ext cx="54864" cy="2011680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8D0F0"/>
                </a:solidFill>
              </a:rPr>
              <a:t>大樹藥局 × MediSpan × NEOV.AI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打造台灣第一家「數據藥局」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8D8F0"/>
                </a:solidFill>
              </a:rPr>
              <a:t>以藥物交互作用為核心，建立可複製的補充品銷售引擎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57600"/>
            <a:ext cx="10515600" cy="27432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A8C8"/>
                </a:solidFill>
              </a:rPr>
              <a:t>Angela Hsu  |  Wolters Kluwer MediSpan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A8C8"/>
                </a:solidFill>
              </a:rPr>
              <a:t>Frank Kao  |  Insight Software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A8C8"/>
                </a:solidFill>
              </a:rPr>
              <a:t>Andy Lam  |  NEOV.AI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29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90B8"/>
                </a:solidFill>
              </a:rPr>
              <a:t>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執行摘要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8E8"/>
                </a:solidFill>
              </a:rPr>
              <a:t>核心命題：每一個 DDI 警示，都是一次高信任度的補充品銷售機會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8D0"/>
                </a:solidFill>
              </a:rPr>
              <a:t>大樹藥局 × MediSpan × NEOV.AI  |  數據藥局提案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47120" cy="82296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在 17,972 張處方中，有 131 個關鍵時刻——每一個時刻，都是藥師在病患最需要時提供精準建議的機會。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77440"/>
            <a:ext cx="3566160" cy="2103120"/>
          </a:xfrm>
          <a:prstGeom prst="rect">
            <a:avLst/>
          </a:prstGeom>
          <a:solidFill>
            <a:srgbClr val="006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病患信任升級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461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CFF"/>
                </a:solidFill>
              </a:rPr>
              <a:t>從「離家近的領藥點」→ 值得信賴的醫療夥伴
回訪率預估提升 30–50%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2377440"/>
            <a:ext cx="3566160" cy="210312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468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834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補充品客單提升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2461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CFF"/>
                </a:solidFill>
              </a:rPr>
              <a:t>五大 DDI 場景話術
每次推薦 NT$450–1,800 加購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2377440"/>
            <a:ext cx="3566160" cy="2103120"/>
          </a:xfrm>
          <a:prstGeom prst="rect">
            <a:avLst/>
          </a:prstGeom>
          <a:solidFill>
            <a:srgbClr val="5B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468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834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可複製連鎖標準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2461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CFF"/>
                </a:solidFill>
              </a:rPr>
              <a:t>標準化流程，從試點門市
擴展至全台所有據點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663440"/>
            <a:ext cx="11247120" cy="777240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754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預估收益規模：保守模型 NT$60萬/月　|　積極模型 NT$315萬/月　（以100家門市計算）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菜市場 vs. 精品店：一個決定命運的選擇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8E8"/>
                </a:solidFill>
              </a:rPr>
              <a:t>台灣藥局正在被便利商店化 + AI普及化兩股力量夾擊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8D0"/>
                </a:solidFill>
              </a:rPr>
              <a:t>大樹藥局 × MediSpan × NEOV.AI  |  數據藥局提案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394960" cy="512064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07D00"/>
                </a:solidFill>
              </a:rPr>
              <a:t>菜市場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A4A4A"/>
                </a:solidFill>
              </a:rPr>
              <a:t>一般生成式 AI（ChatGPT 等）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04288"/>
            <a:ext cx="5394960" cy="27432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23160"/>
            <a:ext cx="5029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392B"/>
                </a:solidFill>
              </a:rPr>
              <a:t>✗  網路資料彙整，無法追溯來源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88920"/>
            <a:ext cx="5029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392B"/>
                </a:solidFill>
              </a:rPr>
              <a:t>✗  無同儕審閱，無標準流程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54680"/>
            <a:ext cx="5029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392B"/>
                </a:solidFill>
              </a:rPr>
              <a:t>✗  靜態訓練資料，不持續更新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20440"/>
            <a:ext cx="5029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392B"/>
                </a:solidFill>
              </a:rPr>
              <a:t>✗  53.7% 完全漏報高風險交互作用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86200"/>
            <a:ext cx="5029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392B"/>
                </a:solidFill>
              </a:rPr>
              <a:t>✗  15.0% 嚴重低估風險等級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51960"/>
            <a:ext cx="5029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392B"/>
                </a:solidFill>
              </a:rPr>
              <a:t>✗  人人都有，無法建立護城河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617720"/>
            <a:ext cx="5029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392B"/>
                </a:solidFill>
              </a:rPr>
              <a:t>✗  藥師被 AI 取代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371600"/>
            <a:ext cx="5394960" cy="5120640"/>
          </a:xfrm>
          <a:prstGeom prst="rect">
            <a:avLst/>
          </a:prstGeom>
          <a:solidFill>
            <a:srgbClr val="E8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4630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6EB6"/>
                </a:solidFill>
              </a:rPr>
              <a:t>精品店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9659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A4A4A"/>
                </a:solidFill>
              </a:rPr>
              <a:t>MediSpan 藥物情報資料庫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304288"/>
            <a:ext cx="5394960" cy="27432"/>
          </a:xfrm>
          <a:prstGeom prst="rect">
            <a:avLst/>
          </a:prstGeom>
          <a:solidFill>
            <a:srgbClr val="006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423160"/>
            <a:ext cx="5029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✓  150+ 全職藥學/醫學專家編寫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788920"/>
            <a:ext cx="5029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✓  70+ 進階學位藥師審核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154680"/>
            <a:ext cx="5029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✓  每月 11,694+ 筆更新；每日文獻監測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520440"/>
            <a:ext cx="5029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✓  高風險警示零遺漏（147處方測試）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886200"/>
            <a:ext cx="5029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✓  標準化嚴重性分級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251960"/>
            <a:ext cx="5029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✓  機構授權 + 自訂設定，不可複製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617720"/>
            <a:ext cx="5029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✓  藥師被 AI 武裝，成不可替代的專家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50408" y="3566160"/>
            <a:ext cx="777240" cy="7772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50408" y="3611880"/>
            <a:ext cx="777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147 張處方的嚴格對比實驗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8E8"/>
                </a:solidFill>
              </a:rPr>
              <a:t>NEOV.AI（Andy Lam）主導 — 以真實台灣處方同步測試 MediSpan vs 一般AI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8D0"/>
                </a:solidFill>
              </a:rPr>
              <a:t>大樹藥局 × MediSpan × NEOV.AI  |  數據藥局提案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3566160" cy="1828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087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53.7%
79 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F"/>
                </a:solidFill>
              </a:rPr>
              <a:t>完全漏報（AI完全未發現）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417320"/>
            <a:ext cx="3566160" cy="1828800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5087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15.0%
22 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1945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F"/>
                </a:solidFill>
              </a:rPr>
              <a:t>嚴重低估（Very High → Minor）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3566160" cy="1828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5087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31.3%
46 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1945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F"/>
                </a:solidFill>
              </a:rPr>
              <a:t>一致正確（兩者均偵測）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29000"/>
            <a:ext cx="11247120" cy="5486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4930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結論：68.7% 的情況下，一般 AI 要麼完全遺漏風險，要麼嚴重低估風險等級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60520"/>
            <a:ext cx="5577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206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</a:rPr>
              <a:t>Statin + Amlodipine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5445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AI：輕微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45445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E60"/>
                </a:solidFill>
              </a:rPr>
              <a:t>MediSpan：極高風險（橫紋肌溶解）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4160520"/>
            <a:ext cx="5577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206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</a:rPr>
              <a:t>CYMBALTA + Trazodone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5445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AI：中度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45445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E60"/>
                </a:solidFill>
              </a:rPr>
              <a:t>MediSpan：極高風險（血清素症候群，可致命）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166360"/>
            <a:ext cx="5577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2120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</a:rPr>
              <a:t>NSAIDs + SSRIs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5504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AI：輕微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555040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E60"/>
                </a:solidFill>
              </a:rPr>
              <a:t>MediSpan：重大風險（腸胃道出血 ×3–15）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5166360"/>
            <a:ext cx="5577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52120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</a:rPr>
              <a:t>ARBs + Spironolactone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5504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AI：未提及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555040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E60"/>
                </a:solidFill>
              </a:rPr>
              <a:t>MediSpan：重大風險（高血鉀 + 心律不整）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大樹藥局實戰成果——數據已在你們手中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8E8"/>
                </a:solidFill>
              </a:rPr>
              <a:t>MediSpan DDI 引擎已上線運行，現在是變現的時候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8D0"/>
                </a:solidFill>
              </a:rPr>
              <a:t>大樹藥局 × MediSpan × NEOV.AI  |  數據藥局提案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2651760" cy="1463040"/>
          </a:xfrm>
          <a:prstGeom prst="rect">
            <a:avLst/>
          </a:prstGeom>
          <a:solidFill>
            <a:srgbClr val="006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08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17,972 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F"/>
                </a:solidFill>
              </a:rPr>
              <a:t>掃描處方總數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417320"/>
            <a:ext cx="2651760" cy="1463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508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131 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1945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F"/>
                </a:solidFill>
              </a:rPr>
              <a:t>高風險警示處方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417320"/>
            <a:ext cx="2651760" cy="1463040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508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0.73%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1945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F"/>
                </a:solidFill>
              </a:rPr>
              <a:t>交互作用觸發率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1417320"/>
            <a:ext cx="2651760" cy="146304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508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0.4 秒/張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1945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F"/>
                </a:solidFill>
              </a:rPr>
              <a:t>平均檢查時間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063240"/>
            <a:ext cx="11247120" cy="914400"/>
          </a:xfrm>
          <a:prstGeom prst="rect">
            <a:avLst/>
          </a:prstGeom>
          <a:solidFill>
            <a:srgbClr val="E8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1089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E4A"/>
                </a:solidFill>
              </a:rPr>
              <a:t>💡  每掃描 137 張處方，就有 1 張觸發高風險警示
   → 各門市每 1–2 天就有 1 次高信任度 DDI 對話機會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60520"/>
            <a:ext cx="11247120" cy="5943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2245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這個機會，目前只用來做合規記錄。現在，我們要把它變成銷售引擎。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892040"/>
            <a:ext cx="3383280" cy="1417320"/>
          </a:xfrm>
          <a:prstGeom prst="rect">
            <a:avLst/>
          </a:prstGeom>
          <a:solidFill>
            <a:srgbClr val="F0F8FF"/>
          </a:solidFill>
          <a:ln w="12700">
            <a:solidFill>
              <a:srgbClr val="00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937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EB6"/>
                </a:solidFill>
              </a:rPr>
              <a:t>STEP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57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E4A"/>
                </a:solidFill>
              </a:rPr>
              <a:t>DDI 警示觸發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235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</a:rPr>
              <a:t>0.4 秒 MediSpan 偵測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4892040"/>
            <a:ext cx="3383280" cy="1417320"/>
          </a:xfrm>
          <a:prstGeom prst="rect">
            <a:avLst/>
          </a:prstGeom>
          <a:solidFill>
            <a:srgbClr val="F0F8FF"/>
          </a:solidFill>
          <a:ln w="12700">
            <a:solidFill>
              <a:srgbClr val="00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9160" y="4937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EB6"/>
                </a:solidFill>
              </a:rPr>
              <a:t>STEP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5257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E4A"/>
                </a:solidFill>
              </a:rPr>
              <a:t>藥師話術啟動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56235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</a:rPr>
              <a:t>科學依據 + 情境對話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4892040"/>
            <a:ext cx="3383280" cy="1417320"/>
          </a:xfrm>
          <a:prstGeom prst="rect">
            <a:avLst/>
          </a:prstGeom>
          <a:solidFill>
            <a:srgbClr val="F0F8FF"/>
          </a:solidFill>
          <a:ln w="12700">
            <a:solidFill>
              <a:srgbClr val="00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40" y="4937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EB6"/>
                </a:solidFill>
              </a:rPr>
              <a:t>STEP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5257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E4A"/>
                </a:solidFill>
              </a:rPr>
              <a:t>補充品推薦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56235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</a:rPr>
              <a:t>NT$450–1,800 加購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銷售場景 場景一：Statin 用藥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8E8"/>
                </a:solidFill>
              </a:rPr>
              <a:t>觸發條件：Statin + Amlodipine / 葡萄柚汁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8D0"/>
                </a:solidFill>
              </a:rPr>
              <a:t>大樹藥局 × MediSpan × NEOV.AI  |  數據藥局提案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47120" cy="777240"/>
          </a:xfrm>
          <a:prstGeom prst="rect">
            <a:avLst/>
          </a:prstGeom>
          <a:solidFill>
            <a:srgbClr val="006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MediSpan 警示：Simvastatin 濃度上升 → 橫紋肌溶解風險
Statin 抑制 HMG-CoA 還原酶，同時影響 CoQ10 合成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68580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31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EB6"/>
                </a:solidFill>
              </a:rPr>
              <a:t>藥師話術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70048"/>
            <a:ext cx="6583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</a:rPr>
              <a:t>「您服用的降血脂藥長期使用下，會影響體內輔酶 Q10 的合成。Q10 是心肌細胞能量代謝的輔因子，補充 CoQ10 可有效預防肌肉疼痛副作用。搭配 Omega-3 魚油對三酸甘油脂的控制也有額外幫助。」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2286000"/>
            <a:ext cx="4206240" cy="2468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233172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推薦補充品組合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72491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E8FF"/>
                </a:solidFill>
              </a:rPr>
              <a:t>▸  CoQ10 100mg  — 肌肉保護、心肌能量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310896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E8FF"/>
                </a:solidFill>
              </a:rPr>
              <a:t>▸  Omega-3 魚油 1,000mg  — 輔助降三酸甘油脂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4937760"/>
            <a:ext cx="4206240" cy="685800"/>
          </a:xfrm>
          <a:prstGeom prst="rect">
            <a:avLst/>
          </a:prstGeom>
          <a:solidFill>
            <a:srgbClr val="006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502920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預估加購客單價：NT$450–800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937760"/>
            <a:ext cx="6858000" cy="685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0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02920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EB6"/>
                </a:solidFill>
              </a:rPr>
              <a:t>DDI 警示 → 藥師對話 → 補充品銷售  →  NT$450–800 / 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銷售場景 場景二：精神科用藥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8E8"/>
                </a:solidFill>
              </a:rPr>
              <a:t>觸發條件：Quetiapine + Escitalopram / Flupentixol（QT 延長警示）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8D0"/>
                </a:solidFill>
              </a:rPr>
              <a:t>大樹藥局 × MediSpan × NEOV.AI  |  數據藥局提案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47120" cy="77724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MediSpan 警示：多種精神科藥物協同延長心臟 QT 間期
增加心律不整風險；常見副作用：睡眠品質下降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68580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31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1FA2"/>
                </a:solidFill>
              </a:rPr>
              <a:t>藥師話術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70048"/>
            <a:ext cx="6583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</a:rPr>
              <a:t>「您的用藥組合對心臟電氣傳導有影響，建議補充鎂——天然心臟節律穩定劑。Omega-3 DHA 對心臟膜健康有額外支持。若有入睡困難，褪黑激素比增加鎮靜藥劑量更溫和。」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2286000"/>
            <a:ext cx="4206240" cy="2468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233172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推薦補充品組合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72491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E8FF"/>
                </a:solidFill>
              </a:rPr>
              <a:t>▸  甘胺酸鎂 300mg  — 心律穩定、情緒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310896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E8FF"/>
                </a:solidFill>
              </a:rPr>
              <a:t>▸  Omega-3 魚油  — 心臟電位保護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349300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E8FF"/>
                </a:solidFill>
              </a:rPr>
              <a:t>▸  褪黑激素 0.5–1mg  — 改善入睡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387705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E8FF"/>
                </a:solidFill>
              </a:rPr>
              <a:t>▸  L-茶胺酸  — 放鬆、減少焦慮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4937760"/>
            <a:ext cx="4206240" cy="6858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502920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預估加購客單價：NT$600–1,200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937760"/>
            <a:ext cx="6858000" cy="685800"/>
          </a:xfrm>
          <a:prstGeom prst="rect">
            <a:avLst/>
          </a:prstGeom>
          <a:solidFill>
            <a:srgbClr val="F0F0F0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02920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1FA2"/>
                </a:solidFill>
              </a:rPr>
              <a:t>DDI 警示 → 藥師對話 → 補充品銷售  →  NT$600–1,200 / 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銷售場景 場景三：NSAIDs + SSRIs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8E8"/>
                </a:solidFill>
              </a:rPr>
              <a:t>觸發條件：消炎止痛藥 + 抗憂鬱藥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8D0"/>
                </a:solidFill>
              </a:rPr>
              <a:t>大樹藥局 × MediSpan × NEOV.AI  |  數據藥局提案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47120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MediSpan 警示：SSRIs 影響血小板凝集 + NSAIDs 損傷胃黏膜
合用腸胃道出血風險上升 3–15 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68580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31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藥師話術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70048"/>
            <a:ext cx="6583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</a:rPr>
              <a:t>「這兩種藥合用會輕微增加腸胃道出血風險。建議用藥期間補充益生菌維持腸道菌相；Omega-3 天然抗炎；維生素 C 有助黏膜修復。注意大便顏色，如變黑立即告知醫師。」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2286000"/>
            <a:ext cx="4206240" cy="2468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233172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推薦補充品組合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72491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E8FF"/>
                </a:solidFill>
              </a:rPr>
              <a:t>▸  益生菌複合配方  — 腸道黏膜保護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310896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E8FF"/>
                </a:solidFill>
              </a:rPr>
              <a:t>▸  Omega-3 魚油  — 抗炎、減少黏膜刺激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349300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E8FF"/>
                </a:solidFill>
              </a:rPr>
              <a:t>▸  維生素 C 500mg  — 黏膜修復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387705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E8FF"/>
                </a:solidFill>
              </a:rPr>
              <a:t>▸  鎂 200mg  — 減少腸道平滑肌痙攣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4937760"/>
            <a:ext cx="4206240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502920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預估加購客單價：NT$400–700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937760"/>
            <a:ext cx="6858000" cy="685800"/>
          </a:xfrm>
          <a:prstGeom prst="rect">
            <a:avLst/>
          </a:prstGeom>
          <a:solidFill>
            <a:srgbClr val="F0F0F0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02920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</a:rPr>
              <a:t>DDI 警示 → 藥師對話 → 補充品銷售  →  NT$400–700 / 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銷售場景 場景四：心血管高風險「心臟三寶」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8E8"/>
                </a:solidFill>
              </a:rPr>
              <a:t>觸發條件：ARBs + Spironolactone / 多重 QT 延長藥物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8D0"/>
                </a:solidFill>
              </a:rPr>
              <a:t>大樹藥局 × MediSpan × NEOV.AI  |  數據藥局提案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47120" cy="777240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MediSpan 警示：高血鉀症風險 + 心臟 QT 間期延長
需要整體的心臟微量元素支持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68580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31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7D00"/>
                </a:solidFill>
              </a:rPr>
              <a:t>藥師話術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70048"/>
            <a:ext cx="6583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</a:rPr>
              <a:t>「心臟照護已有很好的藥物基礎，我們建議三個強化方向：
鎂——天然鈣離子拮抗劑，穩定心律；
CoQ10——心肌核心能量物質；
Omega-3——大量研究支持的心血管整體保護。
我們稱為心臟三寶。」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2286000"/>
            <a:ext cx="4206240" cy="2468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233172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推薦補充品組合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72491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E8FF"/>
                </a:solidFill>
              </a:rPr>
              <a:t>▸  CoQ10 200mg  — 心肌能量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310896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E8FF"/>
                </a:solidFill>
              </a:rPr>
              <a:t>▸  甘胺酸鎂 300mg  — 心律穩定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349300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E8FF"/>
                </a:solidFill>
              </a:rPr>
              <a:t>▸  Omega-3 魚油 2,000mg  — 心血管整體保護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79" y="4937760"/>
            <a:ext cx="4206240" cy="685800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502920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預估加購客單價：NT$1,200–1,800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937760"/>
            <a:ext cx="6858000" cy="685800"/>
          </a:xfrm>
          <a:prstGeom prst="rect">
            <a:avLst/>
          </a:prstGeom>
          <a:solidFill>
            <a:srgbClr val="F0F0F0"/>
          </a:solidFill>
          <a:ln w="12700">
            <a:solidFill>
              <a:srgbClr val="F0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02920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7D00"/>
                </a:solidFill>
              </a:rPr>
              <a:t>DDI 警示 → 藥師對話 → 補充品銷售  →  NT$1,200–1,800 / 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銷售場景 場景五：鎮定安眠藥物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8E8"/>
                </a:solidFill>
              </a:rPr>
              <a:t>觸發條件：BZD + 抗憂鬱藥（CNS 抑制協同作用）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8D0"/>
                </a:solidFill>
              </a:rPr>
              <a:t>大樹藥局 × MediSpan × NEOV.AI  |  數據藥局提案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47120" cy="77724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MediSpan 警示：協同加強中樞神經抑制 → 日間嗜睡、跌倒、認知損害風險
長期 BZD 有依賴性問題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68580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31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9C"/>
                </a:solidFill>
              </a:rPr>
              <a:t>藥師話術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70048"/>
            <a:ext cx="6583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</a:rPr>
              <a:t>「合用鎮靜效果可能更強，早晨起床特別注意頭暈，防止跌倒。若想漸進式減少安眠藥依賴：褪黑激素建立規律睡眠週期不成癮；L-茶胺酸減少入睡前思緒；維生素 B 群修復神經系統。」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2286000"/>
            <a:ext cx="4206240" cy="2468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233172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推薦補充品組合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72491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E8FF"/>
                </a:solidFill>
              </a:rPr>
              <a:t>▸  褪黑激素 0.5–1mg  — 調節睡眠周期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310896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E8FF"/>
                </a:solidFill>
              </a:rPr>
              <a:t>▸  L-茶胺酸 200mg  — 放鬆、無嗜睡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349300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E8FF"/>
                </a:solidFill>
              </a:rPr>
              <a:t>▸  維生素 B 複合物  — 神經系統支持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79" y="4937760"/>
            <a:ext cx="4206240" cy="68580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502920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預估加購客單價：NT$500–900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937760"/>
            <a:ext cx="6858000" cy="685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0A8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02920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9C"/>
                </a:solidFill>
              </a:rPr>
              <a:t>DDI 警示 → 藥師對話 → 補充品銷售  →  NT$500–900 / 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商業模式與收益試算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8E8"/>
                </a:solidFill>
              </a:rPr>
              <a:t>每家門市每1–2天1次 DDI 對話 → 系統性補充品收益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8D0"/>
                </a:solidFill>
              </a:rPr>
              <a:t>大樹藥局 × MediSpan × NEOV.AI  |  數據藥局提案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303520" cy="4389120"/>
          </a:xfrm>
          <a:prstGeom prst="rect">
            <a:avLst/>
          </a:prstGeom>
          <a:solidFill>
            <a:srgbClr val="E8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6EB6"/>
                </a:solidFill>
              </a:rPr>
              <a:t>保守模型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</a:rPr>
              <a:t>每店每日 DDI 對話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0116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A2E4A"/>
                </a:solidFill>
              </a:rPr>
              <a:t>1 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957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</a:rPr>
              <a:t>轉換率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39572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A2E4A"/>
                </a:solidFill>
              </a:rPr>
              <a:t>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797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</a:rPr>
              <a:t>平均加購金額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77977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A2E4A"/>
                </a:solidFill>
              </a:rPr>
              <a:t>NT$500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1638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</a:rPr>
              <a:t>每店每日額外收益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16382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A2E4A"/>
                </a:solidFill>
              </a:rPr>
              <a:t>NT$200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5478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</a:rPr>
              <a:t>每店每月額外收益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54787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A2E4A"/>
                </a:solidFill>
              </a:rPr>
              <a:t>NT$6,000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69080"/>
            <a:ext cx="5303520" cy="685800"/>
          </a:xfrm>
          <a:prstGeom prst="rect">
            <a:avLst/>
          </a:prstGeom>
          <a:solidFill>
            <a:srgbClr val="006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133087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100 店 / 月：NT$600,000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1371600"/>
            <a:ext cx="5852160" cy="43891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14630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7D00"/>
                </a:solidFill>
              </a:rPr>
              <a:t>積極模型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0116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</a:rPr>
              <a:t>每店每日 DDI 對話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20116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A2E4A"/>
                </a:solidFill>
              </a:rPr>
              <a:t>3 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23957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</a:rPr>
              <a:t>轉換率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23957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A2E4A"/>
                </a:solidFill>
              </a:rPr>
              <a:t>50%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277977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</a:rPr>
              <a:t>平均加購金額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277977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A2E4A"/>
                </a:solidFill>
              </a:rPr>
              <a:t>NT$700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316382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</a:rPr>
              <a:t>每店每日額外收益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316382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A2E4A"/>
                </a:solidFill>
              </a:rPr>
              <a:t>NT$1,050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5478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</a:rPr>
              <a:t>每店每月額外收益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35478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A2E4A"/>
                </a:solidFill>
              </a:rPr>
              <a:t>NT$31,500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4069080"/>
            <a:ext cx="5852160" cy="685800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4133087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100 店 / 月：NT$3,150,000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983480"/>
            <a:ext cx="11430000" cy="685800"/>
          </a:xfrm>
          <a:prstGeom prst="rect">
            <a:avLst/>
          </a:prstGeom>
          <a:solidFill>
            <a:srgbClr val="E8F8F1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0749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超越交易的更大價值：每次 DDI 專業對話，使患者回訪率預估提升 30–50%，口碑轉介效應無法量化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三階段導入計畫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8E8"/>
                </a:solidFill>
              </a:rPr>
              <a:t>從試點驗證到全鏈標準化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8D0"/>
                </a:solidFill>
              </a:rPr>
              <a:t>大樹藥局 × MediSpan × NEOV.AI  |  數據藥局提案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3657600" cy="640080"/>
          </a:xfrm>
          <a:prstGeom prst="rect">
            <a:avLst/>
          </a:prstGeom>
          <a:solidFill>
            <a:srgbClr val="006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第一階段  第 1–2 個月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11680"/>
            <a:ext cx="3657600" cy="457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0574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EB6"/>
                </a:solidFill>
              </a:rPr>
              <a:t>目標：數據驗證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87168"/>
            <a:ext cx="36576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5603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</a:rPr>
              <a:t>• 選定 3–5 家試點門市（高處方量優先）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443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</a:rPr>
              <a:t>• 確認 MediSpan DDI 警示數據完整記錄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2841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</a:rPr>
              <a:t>• 建立「補充品推薦追蹤表」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71246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</a:rPr>
              <a:t>• 藥師初階話術培訓（五大場景）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120640"/>
            <a:ext cx="3657600" cy="822960"/>
          </a:xfrm>
          <a:prstGeom prst="rect">
            <a:avLst/>
          </a:prstGeom>
          <a:solidFill>
            <a:srgbClr val="006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1663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DDI 記錄完整率 ≥ 95%
推薦率 ≥ 60%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1371600"/>
            <a:ext cx="3657600" cy="64008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14173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第二階段  第 3–4 個月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2011680"/>
            <a:ext cx="3657600" cy="457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20574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9C"/>
                </a:solidFill>
              </a:rPr>
              <a:t>目標：話術與銷售培訓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2487168"/>
            <a:ext cx="36576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25603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</a:rPr>
              <a:t>• 分析試點數據，優化高轉換率場景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29443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</a:rPr>
              <a:t>• Angela 提供藥學專業深化培訓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32841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</a:rPr>
              <a:t>• Andy 建立 DDI→推薦自動化提示系統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71246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</a:rPr>
              <a:t>• Frank 整合 POS 追蹤 DDI 觸發銷售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5120640"/>
            <a:ext cx="3657600" cy="82296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51663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轉換率目標 ≥ 40%
POS 追蹤系統上線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1371600"/>
            <a:ext cx="3657600" cy="640080"/>
          </a:xfrm>
          <a:prstGeom prst="rect">
            <a:avLst/>
          </a:prstGeom>
          <a:solidFill>
            <a:srgbClr val="5B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14173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第三階段  第 5–6 個月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2011680"/>
            <a:ext cx="3657600" cy="457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20574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6AB0"/>
                </a:solidFill>
              </a:rPr>
              <a:t>目標：擴張與標準化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2487168"/>
            <a:ext cx="36576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25603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</a:rPr>
              <a:t>• 全鏈推廣，納入新人訓練課程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29443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</a:rPr>
              <a:t>• 啟動 Medi-Span Expert AI 整合開發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332841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</a:rPr>
              <a:t>• 每月三方數據回顧會議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371246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</a:rPr>
              <a:t>• 迭代補充品組合與定價策略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5120640"/>
            <a:ext cx="3657600" cy="822960"/>
          </a:xfrm>
          <a:prstGeom prst="rect">
            <a:avLst/>
          </a:prstGeom>
          <a:solidFill>
            <a:srgbClr val="5B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51663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覆蓋率 ≥ 80% 門市
月收益達 NT$600,000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23360" y="3017520"/>
            <a:ext cx="365760" cy="7315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23360" y="294436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E4A"/>
                </a:solidFill>
              </a:rPr>
              <a:t>▶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55279" y="3017520"/>
            <a:ext cx="365760" cy="7315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55279" y="294436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E4A"/>
                </a:solidFill>
              </a:rPr>
              <a:t>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Medi-Span Expert AI — 未來護城河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8E8"/>
                </a:solidFill>
              </a:rPr>
              <a:t>2026 年 2 月上線 | MCP 架構 | NEOV.AI 整合開發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8D0"/>
                </a:solidFill>
              </a:rPr>
              <a:t>大樹藥局 × MediSpan × NEOV.AI  |  數據藥局提案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11430000" cy="6858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業界第一個基於 MCP（Model Context Protocol）架構的藥物情報 AI 整合框架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2011680" cy="1280160"/>
          </a:xfrm>
          <a:prstGeom prst="rect">
            <a:avLst/>
          </a:prstGeom>
          <a:solidFill>
            <a:srgbClr val="006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774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藥師掃描處方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65176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E4A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2286000"/>
            <a:ext cx="2011680" cy="12801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23774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MediSpan DDI
引擎分析
（0.4 秒）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65176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E4A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2286000"/>
            <a:ext cx="2011680" cy="128016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3774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AI Agent
自動配對
補充品邏輯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65176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E4A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59" y="2286000"/>
            <a:ext cx="2011680" cy="1280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799" y="23774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個性化話術
提示卡顯示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39" y="265176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E4A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84080" y="2286000"/>
            <a:ext cx="2011680" cy="1280160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0" y="23774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銷售成交
+記錄優化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7947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E4A"/>
                </a:solidFill>
              </a:rPr>
              <a:t>競爭護城河分析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206240"/>
            <a:ext cx="2011680" cy="4114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2519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數據深度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4251960"/>
            <a:ext cx="8869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</a:rPr>
              <a:t>MediSpan 150+ 專家知識庫，爬蟲無法複製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709159"/>
            <a:ext cx="2011680" cy="4114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75487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整合深度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4754879"/>
            <a:ext cx="8869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</a:rPr>
              <a:t>嵌入大樹作業系統的定制化配置，每家藥局獨特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12079"/>
            <a:ext cx="2011680" cy="4114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25779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時間優勢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06040" y="5257799"/>
            <a:ext cx="8869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</a:rPr>
              <a:t>導入到系統成熟需 6–12 個月學習週期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715000"/>
            <a:ext cx="2011680" cy="4114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7607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品牌護城河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06040" y="5760720"/>
            <a:ext cx="8869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</a:rPr>
              <a:t>「醫院等級藥物安全系統」品牌認知，口頭說明無法取代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263640"/>
            <a:ext cx="11430000" cy="41148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63093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保守估計：此架構為大樹藥局建立 3–5 年先發競爭優勢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一張處方，兩種命運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463040"/>
            <a:ext cx="8531352" cy="36576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303520" cy="1920240"/>
          </a:xfrm>
          <a:prstGeom prst="rect">
            <a:avLst/>
          </a:prstGeom>
          <a:solidFill>
            <a:srgbClr val="2C3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1907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7D00"/>
                </a:solidFill>
              </a:rPr>
              <a:t>命運一（現狀）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8D0"/>
                </a:solidFill>
              </a:rPr>
              <a:t>患者取藥 → 簡短說明 → 離開
DDI 警示留在系統，無對話
無補充品推薦，無回訪理由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5303520" cy="1920240"/>
          </a:xfrm>
          <a:prstGeom prst="rect">
            <a:avLst/>
          </a:prstGeom>
          <a:solidFill>
            <a:srgbClr val="1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71907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9C"/>
                </a:solidFill>
              </a:rPr>
              <a:t>命運二（數據藥局）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0312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D8C0"/>
                </a:solidFill>
              </a:rPr>
              <a:t>MediSpan 0.4 秒偵測 → 話術啟動
科學推薦補充品 → 患者信任建立
成為回頭客 + 口碑轉介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50408" y="224028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▶▶▶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49039"/>
            <a:ext cx="11247120" cy="384048"/>
          </a:xfrm>
          <a:prstGeom prst="rect">
            <a:avLst/>
          </a:prstGeom>
          <a:solidFill>
            <a:srgbClr val="006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94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步驟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794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負責人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794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時間目標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160520"/>
            <a:ext cx="1124712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19709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確認試點門市（3–5家）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197096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0F0"/>
                </a:solidFill>
              </a:rPr>
              <a:t>大樹藥局管理團隊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1970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89C"/>
                </a:solidFill>
              </a:rPr>
              <a:t>2 週內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544568"/>
            <a:ext cx="11247120" cy="365760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8114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MediSpan 警示數據盤點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58114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0F0"/>
                </a:solidFill>
              </a:rPr>
              <a:t>Angela Hsu (WK)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5811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89C"/>
                </a:solidFill>
              </a:rPr>
              <a:t>2 週內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928616"/>
            <a:ext cx="1124712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9651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藥師話術培訓排程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96519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0F0"/>
                </a:solidFill>
              </a:rPr>
              <a:t>Angela + 大樹培訓團隊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9651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89C"/>
                </a:solidFill>
              </a:rPr>
              <a:t>第 1 個月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312664"/>
            <a:ext cx="11247120" cy="365760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49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DDI→補充品 AI 工作流開發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3492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0F0"/>
                </a:solidFill>
              </a:rPr>
              <a:t>Andy Lam (NEOV.AI)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5349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89C"/>
                </a:solidFill>
              </a:rPr>
              <a:t>第 1–2 個月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696712"/>
            <a:ext cx="1124712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7332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POS 追蹤模組整合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73328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0F0"/>
                </a:solidFill>
              </a:rPr>
              <a:t>Frank Kao (Insight SW)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57332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89C"/>
                </a:solidFill>
              </a:rPr>
              <a:t>第 2 個月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6400800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0D8C0"/>
                </a:solidFill>
              </a:rPr>
              <a:t>「從領藥的地方，到值得信賴的醫療服務專家。」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