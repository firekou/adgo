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2286000"/>
            <a:ext cx="5029200" cy="5029200"/>
          </a:xfrm>
          <a:prstGeom prst="rect">
            <a:avLst/>
          </a:prstGeom>
          <a:solidFill>
            <a:srgbClr val="237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1097280"/>
            <a:ext cx="3840480" cy="3840480"/>
          </a:xfrm>
          <a:prstGeom prst="rect">
            <a:avLst/>
          </a:prstGeom>
          <a:solidFill>
            <a:srgbClr val="2D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3474720"/>
            <a:ext cx="2560320" cy="3657600"/>
          </a:xfrm>
          <a:prstGeom prst="rect">
            <a:avLst/>
          </a:prstGeom>
          <a:solidFill>
            <a:srgbClr val="1A5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4572000"/>
            <a:ext cx="2743200" cy="2560320"/>
          </a:xfrm>
          <a:prstGeom prst="rect">
            <a:avLst/>
          </a:prstGeom>
          <a:solidFill>
            <a:srgbClr val="207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200400" cy="5486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大樹藥局 × MediSpan × NEOV.AI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5D6A7"/>
                </a:solidFill>
              </a:rPr>
              <a:t>打造數據藥局 · 以藥物交互作用驅動補充品銷售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457200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</a:rPr>
              <a:t>從合規工具到銷售引擎 — 數據驅動的下一代藥局服務模式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24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D6A7"/>
                </a:solidFill>
              </a:rPr>
              <a:t>Angela Hsu  /  Frank Kao  /  Andy Lam  |  2026年5月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1C784"/>
                </a:solidFill>
              </a:rPr>
              <a:t>NEOV.AI  |  數位健康解決方案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簡報大綱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11457432" cy="118872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48640" cy="5486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356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B3A"/>
                </a:solidFill>
              </a:rPr>
              <a:t>台灣藥局面臨的結構性危機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74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D3D"/>
                </a:solidFill>
              </a:rPr>
              <a:t>電商競爭、AI衝擊——藥局傳統模式正面臨雙重夾擊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24328"/>
            <a:ext cx="11457432" cy="1188720"/>
          </a:xfrm>
          <a:prstGeom prst="rect">
            <a:avLst/>
          </a:prstGeom>
          <a:solidFill>
            <a:srgbClr val="E8F5EE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98648"/>
            <a:ext cx="54864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34056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</a:rPr>
              <a:t>MediSpan 產品介紹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7296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D3D"/>
                </a:solidFill>
              </a:rPr>
              <a:t>醫院等級藥物情報資料庫：150+專家、每日更新、0.4秒偵測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22776"/>
            <a:ext cx="11457432" cy="1188720"/>
          </a:xfrm>
          <a:prstGeom prst="rect">
            <a:avLst/>
          </a:prstGeom>
          <a:solidFill>
            <a:srgbClr val="E3F0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197096"/>
            <a:ext cx="54864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788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32504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65C0"/>
                </a:solidFill>
              </a:rPr>
              <a:t>實驗數據：一般AI vs MediSpan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7141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D3D"/>
                </a:solidFill>
              </a:rPr>
              <a:t>147張真實處方嚴格測試——68.7%情況下一般AI漏報或低估風險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21224"/>
            <a:ext cx="11457432" cy="1188720"/>
          </a:xfrm>
          <a:prstGeom prst="rect">
            <a:avLst/>
          </a:prstGeom>
          <a:solidFill>
            <a:srgbClr val="E0F2F1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495544"/>
            <a:ext cx="548640" cy="5486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4772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796B"/>
                </a:solidFill>
              </a:rPr>
              <a:t>DDI 驅動補充品銷售方案 + 收益試算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76986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D4D3D"/>
                </a:solidFill>
              </a:rPr>
              <a:t>每次警示即銷售機會——100家門市月增 NT$60萬–315萬潛力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台灣藥局正面臨兩股夾擊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5303520" cy="3200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303520" cy="47548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🏪  電商 + 藥妝店競爭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56232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E1A"/>
                </a:solidFill>
              </a:rPr>
              <a:t>• 成藥、補充品可在電商 / 全聯 / 藥妝店買到</a:t>
            </a:r>
          </a:p>
          <a:p>
            <a:r>
              <a:rPr sz="1200" b="0">
                <a:solidFill>
                  <a:srgbClr val="1A2E1A"/>
                </a:solidFill>
              </a:rPr>
              <a:t>  價格更低、配送更快、24小時可購</a:t>
            </a:r>
          </a:p>
          <a:p>
            <a:r>
              <a:rPr sz="1200" b="0">
                <a:solidFill>
                  <a:srgbClr val="1A2E1A"/>
                </a:solidFill>
              </a:rPr>
              <a:t/>
            </a:r>
          </a:p>
          <a:p>
            <a:r>
              <a:rPr sz="1200" b="0">
                <a:solidFill>
                  <a:srgbClr val="1A2E1A"/>
                </a:solidFill>
              </a:rPr>
              <a:t>• 消費者不清楚藥局藥師的專業加值</a:t>
            </a:r>
          </a:p>
          <a:p>
            <a:r>
              <a:rPr sz="1200" b="0">
                <a:solidFill>
                  <a:srgbClr val="1A2E1A"/>
                </a:solidFill>
              </a:rPr>
              <a:t>  「藥局只是貴一點的全聯」觀感普遍</a:t>
            </a:r>
          </a:p>
          <a:p>
            <a:r>
              <a:rPr sz="1200" b="0">
                <a:solidFill>
                  <a:srgbClr val="1A2E1A"/>
                </a:solidFill>
              </a:rPr>
              <a:t/>
            </a:r>
          </a:p>
          <a:p>
            <a:r>
              <a:rPr sz="1200" b="0">
                <a:solidFill>
                  <a:srgbClr val="1A2E1A"/>
                </a:solidFill>
              </a:rPr>
              <a:t>• 2023年台灣電商健康品市場年增 18%</a:t>
            </a:r>
          </a:p>
          <a:p>
            <a:r>
              <a:rPr sz="1200" b="0">
                <a:solidFill>
                  <a:srgbClr val="1A2E1A"/>
                </a:solidFill>
              </a:rPr>
              <a:t>  藥局補充品毛利持續受壓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261872"/>
            <a:ext cx="5303520" cy="3200400"/>
          </a:xfrm>
          <a:prstGeom prst="rect">
            <a:avLst/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261872"/>
            <a:ext cx="530352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3167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AI 普及化衝擊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856232"/>
            <a:ext cx="4983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E1A"/>
                </a:solidFill>
              </a:rPr>
              <a:t>• 患者拿手機問 ChatGPT 用藥問題</a:t>
            </a:r>
          </a:p>
          <a:p>
            <a:r>
              <a:rPr sz="1200" b="0">
                <a:solidFill>
                  <a:srgbClr val="1A2E1A"/>
                </a:solidFill>
              </a:rPr>
              <a:t>  「AI說可以」直接挑戰藥師專業判斷</a:t>
            </a:r>
          </a:p>
          <a:p>
            <a:r>
              <a:rPr sz="1200" b="0">
                <a:solidFill>
                  <a:srgbClr val="1A2E1A"/>
                </a:solidFill>
              </a:rPr>
              <a:t/>
            </a:r>
          </a:p>
          <a:p>
            <a:r>
              <a:rPr sz="1200" b="0">
                <a:solidFill>
                  <a:srgbClr val="1A2E1A"/>
                </a:solidFill>
              </a:rPr>
              <a:t>• 一般AI在DDI偵測的準確率僅31.3%</a:t>
            </a:r>
          </a:p>
          <a:p>
            <a:r>
              <a:rPr sz="1200" b="0">
                <a:solidFill>
                  <a:srgbClr val="1A2E1A"/>
                </a:solidFill>
              </a:rPr>
              <a:t>  但患者不知道——他們相信AI</a:t>
            </a:r>
          </a:p>
          <a:p>
            <a:r>
              <a:rPr sz="1200" b="0">
                <a:solidFill>
                  <a:srgbClr val="1A2E1A"/>
                </a:solidFill>
              </a:rPr>
              <a:t/>
            </a:r>
          </a:p>
          <a:p>
            <a:r>
              <a:rPr sz="1200" b="0">
                <a:solidFill>
                  <a:srgbClr val="1A2E1A"/>
                </a:solidFill>
              </a:rPr>
              <a:t>• 藥師難以即時反駁或提供科學依據</a:t>
            </a:r>
          </a:p>
          <a:p>
            <a:r>
              <a:rPr sz="1200" b="0">
                <a:solidFill>
                  <a:srgbClr val="1A2E1A"/>
                </a:solidFill>
              </a:rPr>
              <a:t>  缺乏標準化、可引用的資料庫支撐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45152"/>
            <a:ext cx="11457432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18304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結果 →  藥局正在淪為「離家近的領藥通路 / 藥妝店」，專業價值被忽視、客單價持續下滑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Medi-Span® 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Medi-Span® Clinical — Wolters Kluwer Health 旗下藥物情報資料庫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6949440" cy="5184648"/>
          </a:xfrm>
          <a:prstGeom prst="rect">
            <a:avLst/>
          </a:prstGeom>
          <a:solidFill>
            <a:srgbClr val="F7FB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6492240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6B3A"/>
                </a:solidFill>
              </a:rPr>
              <a:t>核心功能</a:t>
            </a:r>
          </a:p>
          <a:p>
            <a:r>
              <a:rPr sz="5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▶  藥物交互作用（DDI）即時篩查</a:t>
            </a:r>
          </a:p>
          <a:p>
            <a:r>
              <a:rPr sz="1200" b="0">
                <a:solidFill>
                  <a:srgbClr val="3D4D3D"/>
                </a:solidFill>
              </a:rPr>
              <a:t>    嵌入臨床流程，0.4秒 / 張處方完成檢核</a:t>
            </a:r>
          </a:p>
          <a:p>
            <a:r>
              <a:rPr sz="5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▶  三層警示顯示系統</a:t>
            </a:r>
          </a:p>
          <a:p>
            <a:r>
              <a:rPr sz="1200" b="0">
                <a:solidFill>
                  <a:srgbClr val="3D4D3D"/>
                </a:solidFill>
              </a:rPr>
              <a:t>    Icon警示 → 短訊說明 → 完整臨床指引</a:t>
            </a:r>
          </a:p>
          <a:p>
            <a:r>
              <a:rPr sz="5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▶  標準化嚴重性分級</a:t>
            </a:r>
          </a:p>
          <a:p>
            <a:r>
              <a:rPr sz="1200" b="0">
                <a:solidFill>
                  <a:srgbClr val="3D4D3D"/>
                </a:solidFill>
              </a:rPr>
              <a:t>    極高 / 重大 / 中度 / 輕微 — 四級分類</a:t>
            </a:r>
          </a:p>
          <a:p>
            <a:r>
              <a:rPr sz="5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▶  Command Center</a:t>
            </a:r>
          </a:p>
          <a:p>
            <a:r>
              <a:rPr sz="1200" b="0">
                <a:solidFill>
                  <a:srgbClr val="3D4D3D"/>
                </a:solidFill>
              </a:rPr>
              <a:t>    機構可自訂警示設定、閾值與工作流程</a:t>
            </a:r>
          </a:p>
          <a:p>
            <a:r>
              <a:rPr sz="5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▶  API 整合</a:t>
            </a:r>
          </a:p>
          <a:p>
            <a:r>
              <a:rPr sz="1200" b="0">
                <a:solidFill>
                  <a:srgbClr val="3D4D3D"/>
                </a:solidFill>
              </a:rPr>
              <a:t>    無縫嵌入藥局 POS / 調劑系統，不中斷工作流程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261872"/>
            <a:ext cx="3931920" cy="118872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31673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568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全職藥學 / 醫學內容專家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587752"/>
            <a:ext cx="3931920" cy="1188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64261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70+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8269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持有進階學位藥師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913632"/>
            <a:ext cx="3931920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9684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260+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60857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外部顧問專家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5239512"/>
            <a:ext cx="3931920" cy="11887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29437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每日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934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醫學文獻監測更新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為什麼 Medi-Span 資料是醫院等級？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274320" cy="157276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61872"/>
            <a:ext cx="11183112" cy="1572768"/>
          </a:xfrm>
          <a:prstGeom prst="rect">
            <a:avLst/>
          </a:prstGeom>
          <a:solidFill>
            <a:srgbClr val="F7FB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261872"/>
            <a:ext cx="11183112" cy="38404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16736"/>
            <a:ext cx="10817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內容編輯卓越性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19072"/>
            <a:ext cx="108173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E1A"/>
                </a:solidFill>
              </a:rPr>
              <a:t>• 每日監測產業動態與主要醫學文獻（FDA、EMA、台灣衛福部）</a:t>
            </a:r>
          </a:p>
          <a:p>
            <a:r>
              <a:rPr sz="1200" b="0">
                <a:solidFill>
                  <a:srgbClr val="1A2E1A"/>
                </a:solidFill>
              </a:rPr>
              <a:t>• 涵蓋 Medication Guides、REMS、藥品短缺資訊</a:t>
            </a:r>
          </a:p>
          <a:p>
            <a:r>
              <a:rPr sz="1200" b="0">
                <a:solidFill>
                  <a:srgbClr val="1A2E1A"/>
                </a:solidFill>
              </a:rPr>
              <a:t>• 製藥商公告、臨床試驗結果、上市後安全報告</a:t>
            </a:r>
          </a:p>
          <a:p>
            <a:r>
              <a:rPr sz="1200" b="0">
                <a:solidFill>
                  <a:srgbClr val="1A2E1A"/>
                </a:solidFill>
              </a:rPr>
              <a:t>• 所有內容均有版本控制與審核記錄，可追溯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274320" cy="15727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44368"/>
            <a:ext cx="11183112" cy="1572768"/>
          </a:xfrm>
          <a:prstGeom prst="rect">
            <a:avLst/>
          </a:prstGeom>
          <a:solidFill>
            <a:srgbClr val="F7FB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44368"/>
            <a:ext cx="11183112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99232"/>
            <a:ext cx="10817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跨專科團隊審核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108173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E1A"/>
                </a:solidFill>
              </a:rPr>
              <a:t>• 150+ 全職內容專家（含 70+ 進階學位藥師 PharmD / PhD）</a:t>
            </a:r>
          </a:p>
          <a:p>
            <a:r>
              <a:rPr sz="1200" b="0">
                <a:solidFill>
                  <a:srgbClr val="1A2E1A"/>
                </a:solidFill>
              </a:rPr>
              <a:t>• 260+ 外部顧問（含 40+ 美國以外國際市場專家）</a:t>
            </a:r>
          </a:p>
          <a:p>
            <a:r>
              <a:rPr sz="1200" b="0">
                <a:solidFill>
                  <a:srgbClr val="1A2E1A"/>
                </a:solidFill>
              </a:rPr>
              <a:t>• 與 UpToDate 7,500+ 醫師作者網絡相互連結驗證</a:t>
            </a:r>
          </a:p>
          <a:p>
            <a:r>
              <a:rPr sz="1200" b="0">
                <a:solidFill>
                  <a:srgbClr val="1A2E1A"/>
                </a:solidFill>
              </a:rPr>
              <a:t>• 所有條目均經同儕審閱（Peer Review），非AI生成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26864"/>
            <a:ext cx="274320" cy="157276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26864"/>
            <a:ext cx="11183112" cy="1572768"/>
          </a:xfrm>
          <a:prstGeom prst="rect">
            <a:avLst/>
          </a:prstGeom>
          <a:solidFill>
            <a:srgbClr val="F7FBF8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626864"/>
            <a:ext cx="11183112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108173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即時臨床決策支援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84064"/>
            <a:ext cx="10817352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E1A"/>
                </a:solidFill>
              </a:rPr>
              <a:t>• 嵌入式解決方案，不中斷藥師 / 醫師工作流程</a:t>
            </a:r>
          </a:p>
          <a:p>
            <a:r>
              <a:rPr sz="1200" b="0">
                <a:solidFill>
                  <a:srgbClr val="1A2E1A"/>
                </a:solidFill>
              </a:rPr>
              <a:t>• 標準化嚴重性分級：極高 / 重大 / 中度 / 輕微</a:t>
            </a:r>
          </a:p>
          <a:p>
            <a:r>
              <a:rPr sz="1200" b="0">
                <a:solidFill>
                  <a:srgbClr val="1A2E1A"/>
                </a:solidFill>
              </a:rPr>
              <a:t>• 每月 11,694+ 筆劑量調整更新</a:t>
            </a:r>
          </a:p>
          <a:p>
            <a:r>
              <a:rPr sz="1200" b="0">
                <a:solidFill>
                  <a:srgbClr val="1A2E1A"/>
                </a:solidFill>
              </a:rPr>
              <a:t>• 0.4 秒 / 張處方完成全庫比對，支援高流量環境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Medi-Span 已在大樹藥局運行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這不是概念驗證，這是已發生的真實數據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2724912" cy="1920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26464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17,972 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已掃描
處方總數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1261872"/>
            <a:ext cx="2724912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1426464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131 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2176272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觸發高風險警示
(含147個交互作用對)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261872"/>
            <a:ext cx="2724912" cy="1920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426464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0.4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176272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平均每張處方
檢查時間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4272" y="1261872"/>
            <a:ext cx="2724912" cy="19202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1426464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151.7 張/分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2176272"/>
            <a:ext cx="2724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5D6A7"/>
                </a:solidFill>
              </a:rPr>
              <a:t>系統
處理速度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0712"/>
            <a:ext cx="11457432" cy="141732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47872"/>
            <a:ext cx="10908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6B3A"/>
                </a:solidFill>
              </a:rPr>
              <a:t>每掃描 137 張處方，就有 1 張觸發高風險警示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59352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E1A"/>
                </a:solidFill>
              </a:rPr>
              <a:t>→  各門市每 1–2 天就有 1 次高信任度 DDI 對話機會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73752"/>
            <a:ext cx="11457432" cy="594360"/>
          </a:xfrm>
          <a:prstGeom prst="rect">
            <a:avLst/>
          </a:prstGeom>
          <a:solidFill>
            <a:srgbClr val="FD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873752"/>
            <a:ext cx="73152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65192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「這個機會，目前只用來做合規記錄。我們能做更多。」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實驗設計：一般 AI vs Medi-Span 精確度對比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NEOV.AI（Andy Lam）主導 — 台灣真實臨床處方嚴格測試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99032"/>
            <a:ext cx="11457432" cy="2286000"/>
          </a:xfrm>
          <a:prstGeom prst="rect">
            <a:avLst/>
          </a:prstGeom>
          <a:solidFill>
            <a:srgbClr val="F7FBF8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99032"/>
            <a:ext cx="11457432" cy="420624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538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實驗方法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11096"/>
            <a:ext cx="110002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E1A"/>
                </a:solidFill>
              </a:rPr>
              <a:t>取樣：  147 張真實台灣處方（來自大樹藥局實際數據）</a:t>
            </a:r>
          </a:p>
          <a:p>
            <a:r>
              <a:rPr sz="6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測試：  同一批處方同步輸入 Medi-Span DDI 系統 + 市面主流生成式AI</a:t>
            </a:r>
          </a:p>
          <a:p>
            <a:r>
              <a:rPr sz="6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比對：  以 Medi-Span 為黃金標準，評估 AI 的偵測準確度與風險分級正確性</a:t>
            </a:r>
          </a:p>
          <a:p>
            <a:r>
              <a:rPr sz="600" b="0">
                <a:solidFill>
                  <a:srgbClr val="3D4D3D"/>
                </a:solidFill>
              </a:rPr>
              <a:t/>
            </a:r>
          </a:p>
          <a:p>
            <a:r>
              <a:rPr sz="1300" b="0">
                <a:solidFill>
                  <a:srgbClr val="1A2E1A"/>
                </a:solidFill>
              </a:rPr>
              <a:t>對象：  全部為 Medi-Span 評定「極高風險 Very High」的藥物交互作用案例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13632"/>
            <a:ext cx="3611880" cy="1691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0507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V  符合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6227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兩者均偵測到極高 / 重大風險
→ 系統一致，患者安全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913632"/>
            <a:ext cx="3611880" cy="1691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400507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  部分符合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6227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Medi-Span: 極高風險
一般AI: 僅評輕微或中度
→ 嚴重低估，產生誤判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913632"/>
            <a:ext cx="3611880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005072"/>
            <a:ext cx="3611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X  不符合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46227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Medi-Span偵測到交互作用
一般AI完全未發現
→ 漏報，患者暴露於風險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實驗結果：一般 AI 的真實表現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147 張處方，全部為 Medi-Span 評定「極高風險（Very High）」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3566160" cy="3108960"/>
          </a:xfrm>
          <a:prstGeom prst="rect">
            <a:avLst/>
          </a:prstGeom>
          <a:solidFill>
            <a:srgbClr val="FFEBEE"/>
          </a:solidFill>
          <a:ln w="381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356616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16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X  不符合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10512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62828"/>
                </a:solidFill>
              </a:rPr>
              <a:t>79 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79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</a:rPr>
              <a:t>53.7%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1A"/>
                </a:solidFill>
              </a:rPr>
              <a:t>一般AI 完全未偵測到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1261872"/>
            <a:ext cx="3566160" cy="3108960"/>
          </a:xfrm>
          <a:prstGeom prst="rect">
            <a:avLst/>
          </a:prstGeom>
          <a:solidFill>
            <a:srgbClr val="FFF3E0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1261872"/>
            <a:ext cx="35661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1316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  部分符合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1810512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65100"/>
                </a:solidFill>
              </a:rPr>
              <a:t>22 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2679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5100"/>
                </a:solidFill>
              </a:rPr>
              <a:t>15.0%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182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1A"/>
                </a:solidFill>
              </a:rPr>
              <a:t>Medi-Span: 極高風險
一般AI: 輕微或中度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261872"/>
            <a:ext cx="3566160" cy="3108960"/>
          </a:xfrm>
          <a:prstGeom prst="rect">
            <a:avLst/>
          </a:prstGeom>
          <a:solidFill>
            <a:srgbClr val="E8F5EE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261872"/>
            <a:ext cx="3566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0144" y="131673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  符合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1810512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7D32"/>
                </a:solidFill>
              </a:rPr>
              <a:t>46 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679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D32"/>
                </a:solidFill>
              </a:rPr>
              <a:t>31.3%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318211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E1A"/>
                </a:solidFill>
              </a:rPr>
              <a:t>兩者均偵測到
極高 / 重大風險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53712"/>
            <a:ext cx="11457432" cy="804672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72584"/>
            <a:ext cx="11000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結論：68.7% 的情況下，一般 AI 要麼完全漏報，要麼嚴重低估風險等級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2239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16161"/>
                </a:solidFill>
              </a:rPr>
              <a:t>＊不符合定義：Medi-Span 偵測到交互作用而一般AI分析為無。部分符合：Medi-Span 評定 Very High 而一般AI分析為 Minor 或 Moderate。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實際案例：這些風險，一般 AI 完全看不見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以下均為 Medi-Span 評定「極高風險」、一般AI漏報或低估的真實案例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486400" cy="237744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61872"/>
            <a:ext cx="548640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167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CYMBALTA (Duloxetine) + Trazodone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Medi-Span:  ⚠ 極高風險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臨床風險：血清素症候群（可致命）
意識混亂、肌躍、高燒、自律神經失調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8688"/>
            <a:ext cx="5212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一般AI評定：中度，建議注意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61872"/>
            <a:ext cx="5486400" cy="237744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261872"/>
            <a:ext cx="5486400" cy="40233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3167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Statin + Amlodipine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Medi-Span:  ⚠ 極高風險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011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臨床風險：Simvastatin 血中濃度上升
橫紋肌溶解症風險（可致急性腎衰竭）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18688"/>
            <a:ext cx="5212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278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一般AI評定：輕微，無特別警告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22192"/>
            <a:ext cx="5486400" cy="23774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22192"/>
            <a:ext cx="548640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877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NSAIDs + SSRIs（如布洛芬 + 抗憂鬱藥）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97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Medi-Span:  ⚠ 重大風險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臨床風險：腸胃道出血風險上升 3–15 倍
尤其合併使用時期超過 2 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79008"/>
            <a:ext cx="5212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788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一般AI評定：輕微，無特別說明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822192"/>
            <a:ext cx="5486400" cy="237744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822192"/>
            <a:ext cx="5486400" cy="402336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877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ARBs + Spironolactone（如 Losartan + 螺旋內酯）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976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100"/>
                </a:solidFill>
              </a:rPr>
              <a:t>Medi-Span:  ⚠ 重大風險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720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臨床風險：高血鉀症 + QT間期延長 + 心律不整
老年患者尤其高風險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779008"/>
            <a:ext cx="5212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7881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一般AI評定：輕微或完全未提及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73952"/>
            <a:ext cx="11457432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47104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1B6B3A"/>
                </a:solidFill>
              </a:rPr>
              <a:t>「每一個被漏掉的交互作用，都是一個潛在的病患傷害，也是一個流失的信任機會。」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兩種工具，兩種等級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不是「AI好不好」的問題，而是「哪個等級適合醫療場域」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242316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261872"/>
            <a:ext cx="45720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261872"/>
            <a:ext cx="45720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533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比較維度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3533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一般生成式 AI  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3533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Medi-Span  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19072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1719072"/>
            <a:ext cx="457200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719072"/>
            <a:ext cx="4572000" cy="457200"/>
          </a:xfrm>
          <a:prstGeom prst="rect">
            <a:avLst/>
          </a:prstGeom>
          <a:solidFill>
            <a:srgbClr val="F0F9F2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810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內容品質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8105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網路資料彙整，無追溯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18105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150+ 全職藥學專家審核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76272"/>
            <a:ext cx="24231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2176272"/>
            <a:ext cx="457200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2176272"/>
            <a:ext cx="45720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2677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審查機制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2677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無同儕審閱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2677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70+進階學位藥師+260+顧問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33472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2633472"/>
            <a:ext cx="457200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2633472"/>
            <a:ext cx="4572000" cy="457200"/>
          </a:xfrm>
          <a:prstGeom prst="rect">
            <a:avLst/>
          </a:prstGeom>
          <a:solidFill>
            <a:srgbClr val="F0F9F2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249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更新頻率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27249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靜態訓練資料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7249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每月 11,694+ 筆更新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090672"/>
            <a:ext cx="24231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34640" y="3090672"/>
            <a:ext cx="457200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52360" y="3090672"/>
            <a:ext cx="45720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1821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風險分級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31821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模糊描述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1821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標準化四級分類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547872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34640" y="3547872"/>
            <a:ext cx="457200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3547872"/>
            <a:ext cx="4572000" cy="457200"/>
          </a:xfrm>
          <a:prstGeom prst="rect">
            <a:avLst/>
          </a:prstGeom>
          <a:solidFill>
            <a:srgbClr val="F0F9F2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6393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147處方測試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6393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68.7% 漏報或低報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36393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零遺漏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05072"/>
            <a:ext cx="242316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34640" y="4005072"/>
            <a:ext cx="457200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52360" y="4005072"/>
            <a:ext cx="457200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96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工作流整合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40965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無法嵌入系統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0965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API整合+Command Center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462272"/>
            <a:ext cx="2423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34640" y="4462272"/>
            <a:ext cx="4572000" cy="457200"/>
          </a:xfrm>
          <a:prstGeom prst="rect">
            <a:avLst/>
          </a:prstGeom>
          <a:solidFill>
            <a:srgbClr val="FFF0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0" y="4462272"/>
            <a:ext cx="4572000" cy="457200"/>
          </a:xfrm>
          <a:prstGeom prst="rect">
            <a:avLst/>
          </a:prstGeom>
          <a:solidFill>
            <a:srgbClr val="F0F9F2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537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法律依據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45537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若出事，藥師無據可循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4553712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6B3A"/>
                </a:solidFill>
              </a:rPr>
              <a:t>有據可查的臨床決策工具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DDI 警示 → 銷售引擎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每一個高風險警示，都是一次高信任度的補充品推薦機會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" y="1444752"/>
            <a:ext cx="2011680" cy="12801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" y="167335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MediSpan
偵測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3996" y="2011680"/>
            <a:ext cx="411480" cy="14630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3996" y="19385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5476" y="1444752"/>
            <a:ext cx="2011680" cy="12801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5476" y="167335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0.4秒
觸發警示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77156" y="2011680"/>
            <a:ext cx="411480" cy="14630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7156" y="19385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8636" y="1444752"/>
            <a:ext cx="2011680" cy="12801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8636" y="167335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藥師
開啟對話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00316" y="2011680"/>
            <a:ext cx="411480" cy="14630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0316" y="19385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1796" y="1444752"/>
            <a:ext cx="2011680" cy="12801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1796" y="167335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科學依據
推薦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3476" y="2011680"/>
            <a:ext cx="411480" cy="146304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3476" y="19385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34956" y="1444752"/>
            <a:ext cx="2011680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4956" y="167335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補充品銷售
NT$450–1,800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99232"/>
            <a:ext cx="3566160" cy="2011680"/>
          </a:xfrm>
          <a:prstGeom prst="rect">
            <a:avLst/>
          </a:prstGeom>
          <a:solidFill>
            <a:srgbClr val="F7FBF8"/>
          </a:solidFill>
          <a:ln w="254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999232"/>
            <a:ext cx="3566160" cy="38404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044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病患最有感的時刻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E1A"/>
                </a:solidFill>
              </a:rPr>
              <a:t>藥師主動說明用藥風險時，患者信任度最高
→ 最佳推薦時機，不是廣告，是專業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999232"/>
            <a:ext cx="3566160" cy="2011680"/>
          </a:xfrm>
          <a:prstGeom prst="rect">
            <a:avLst/>
          </a:prstGeom>
          <a:solidFill>
            <a:srgbClr val="F7FBF8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999232"/>
            <a:ext cx="35661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044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科學依據支撐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347472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E1A"/>
                </a:solidFill>
              </a:rPr>
              <a:t>不是推銷話術，是基於臨床數據的專業建議
→ Medi-Span 提供可引用的科學依據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999232"/>
            <a:ext cx="3566160" cy="2011680"/>
          </a:xfrm>
          <a:prstGeom prst="rect">
            <a:avLst/>
          </a:prstGeom>
          <a:solidFill>
            <a:srgbClr val="F7FBF8"/>
          </a:solidFill>
          <a:ln w="254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2999232"/>
            <a:ext cx="3566160" cy="38404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04495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完全合規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47472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E1A"/>
                </a:solidFill>
              </a:rPr>
              <a:t>不改處方、不涉及診斷，屬藥師執業範疇
→ 非藥物療法推薦，零法律風險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情境 1：Statin → CoQ10 + Omega-3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降膽固醇藥物 × 肌肉保護補充品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6B3A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07592"/>
            <a:ext cx="1072591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9903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⚠  Medi-Span 偵測：Statin 可能耗竭體內 CoQ10，增加肌肉疼痛風險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114574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09728" cy="17373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藥師話術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「您這張處方含有 Statin（降血脂藥），研究顯示長期使用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 可能降低體內 CoQ10 濃度，導致肌肉疲勞或疼痛。」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8211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「我們有醫院等級建議的補充組合，幫助維持肌肉功能。」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CoQ10 輔酶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100–200mg/天
肌肉能量支持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8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Omega-3 魚油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EPA+DHA
抗發炎保護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維生素 D3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骨骼 + 免疫支援
配合 Statin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279391"/>
            <a:ext cx="2194560" cy="6400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30682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NT$ 450 – 800 / 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情境 2：精神科用藥（QT延長）→ 鎂 + Omega-3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抗憂鬱 / 抗精神病藥 × 心臟節律保護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6B3A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07592"/>
            <a:ext cx="1072591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9903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⚠  Medi-Span 偵測：多種精神科藥物可延長 QT 間期，與電解質失衡協同風險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114574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09728" cy="17373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藥師話術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「您使用的精神科藥物有一個需要注意的地方——」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「它可能影響心臟節律，搭配鎂和 Omega-3 有助穩定心電傳導。」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8211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「這是我們根據藥物數據庫特別建議的組合，不是一般保健品。」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鎂 Magnesium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Glycinate形式
心臟 + 神經支持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8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Omega-3 魚油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DHA心臟保護
抗炎減QT風險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褪黑激素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改善睡眠品質
精神科患者適用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279391"/>
            <a:ext cx="2194560" cy="6400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30682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NT$ 600 – 1,200 / 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情境 3：NSAIDs + SSRIs → 胃腸道保護組合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止痛藥 + 抗憂鬱藥 × 消化道出血風險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6B3A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07592"/>
            <a:ext cx="1072591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9903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⚠  Medi-Span 偵測：NSAIDs + SSRIs 合用，胃腸道出血風險上升 3–15 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114574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09728" cy="17373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藥師話術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「您同時使用止痛藥和抗憂鬱藥，這個組合有一個特別要注意的地方——」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「研究顯示可能增加胃黏膜刺激，甚至出血風險。」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8211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「我建議加上益生菌和鋅，幫助保護胃腸道黏膜。」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益生菌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Lactobacillus族
修復腸道黏膜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8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鋅 Zinc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胃黏膜修復
免疫支持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薑黃素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天然抗炎
減少胃刺激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279391"/>
            <a:ext cx="2194560" cy="6400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30682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NT$ 400 – 700 / 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情境 4：心血管高風險 → 心臟三寶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高血壓 / 心臟用藥 × 全方位心血管保護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6B3A"/>
                </a:solidFill>
              </a:rP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07592"/>
            <a:ext cx="1072591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9903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⚠  Medi-Span 偵測：ARB + 利尿劑組合，電解質流失 + 腎功能監測必要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114574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09728" cy="17373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藥師話術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「您的處方是心血管保護用藥組合，效果很好。」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「長期服用可能影響體內鎂和鉀的平衡，建議補充。」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8211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「這三種補充品是心臟科建議搭配的黃金組合。」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CoQ10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心肌能量
老年患者必備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8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鎂 Magnesium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血壓調節
防心律不整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Omega-3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降三酸甘油酯
AHA認可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279391"/>
            <a:ext cx="2194560" cy="6400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30682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NT$ 1,200 – 1,800 / 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情境 5：鎮定安眠藥物 → 自然助眠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Benzodiazepine / Z-drug × 減依賴自然轉銜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solidFill>
            <a:srgbClr val="E8F5EE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35024"/>
            <a:ext cx="594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6B3A"/>
                </a:solidFill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307592"/>
            <a:ext cx="10725912" cy="731520"/>
          </a:xfrm>
          <a:prstGeom prst="rect">
            <a:avLst/>
          </a:prstGeom>
          <a:solidFill>
            <a:srgbClr val="FFEBEE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399032"/>
            <a:ext cx="10543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⚠  Medi-Span 偵測：長期使用安眠藥有依賴風險，認知功能可能受影響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114574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109728" cy="17373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494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藥師話術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54203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「您目前使用的安眠藥很有效，但長期使用要注意依賴問題。」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86207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「我們有幾種天然助眠成分，可以在醫師指導下逐步配合減量。」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182112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「褪黑激素 + 鎂的組合，在臨床上有助改善睡眠品質。」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褪黑激素 3mg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調節生理時鐘
非成癮性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5468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鎂 Magnesium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肌肉放鬆
睡眠品質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050791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4050791"/>
            <a:ext cx="2286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42231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</a:rPr>
              <a:t>L-茶胺酸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507991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D4D3D"/>
                </a:solidFill>
              </a:rPr>
              <a:t>放鬆無嗜睡
焦慮緩解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4279391"/>
            <a:ext cx="2194560" cy="6400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30682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NT$ 500 – 900 / 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收益試算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以大樹藥局 100 家門市計算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261872"/>
            <a:ext cx="5120640" cy="3749039"/>
          </a:xfrm>
          <a:prstGeom prst="rect">
            <a:avLst/>
          </a:prstGeom>
          <a:solidFill>
            <a:srgbClr val="E8F5EE"/>
          </a:solidFill>
          <a:ln w="254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261872"/>
            <a:ext cx="512064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保守模型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856232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929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每店每日 DDI 對話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293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6B3A"/>
                </a:solidFill>
              </a:rPr>
              <a:t>1 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2386584"/>
            <a:ext cx="475488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24597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補充品轉換率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597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6B3A"/>
                </a:solidFill>
              </a:rPr>
              <a:t>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916936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平均加購金額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90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6B3A"/>
                </a:solidFill>
              </a:rPr>
              <a:t>NT$500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447288"/>
            <a:ext cx="4754880" cy="438912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每店 /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6B3A"/>
                </a:solidFill>
              </a:rPr>
              <a:t>NT$6,000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069080"/>
            <a:ext cx="4754880" cy="50292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422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100店 / 月：NT$600,000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261872"/>
            <a:ext cx="5120640" cy="3749039"/>
          </a:xfrm>
          <a:prstGeom prst="rect">
            <a:avLst/>
          </a:prstGeom>
          <a:solidFill>
            <a:srgbClr val="E3F0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261872"/>
            <a:ext cx="512064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積極模型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856232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9293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每店每日 DDI 對話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9293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</a:rPr>
              <a:t>3 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386584"/>
            <a:ext cx="4754880" cy="438912"/>
          </a:xfrm>
          <a:prstGeom prst="rect">
            <a:avLst/>
          </a:prstGeom>
          <a:solidFill>
            <a:srgbClr val="E3F0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4597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補充品轉換率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4597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</a:rPr>
              <a:t>50%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2916936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990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平均加購金額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29900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</a:rPr>
              <a:t>NT$700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447288"/>
            <a:ext cx="4754880" cy="438912"/>
          </a:xfrm>
          <a:prstGeom prst="rect">
            <a:avLst/>
          </a:prstGeom>
          <a:solidFill>
            <a:srgbClr val="E3F0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E1A"/>
                </a:solidFill>
              </a:rPr>
              <a:t>每店 / 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565C0"/>
                </a:solidFill>
              </a:rPr>
              <a:t>NT$31,500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069080"/>
            <a:ext cx="4754880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1422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100店 / 月：NT$3,150,000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193791"/>
            <a:ext cx="10543032" cy="731520"/>
          </a:xfrm>
          <a:prstGeom prst="rect">
            <a:avLst/>
          </a:prstGeom>
          <a:solidFill>
            <a:srgbClr val="E8F5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285231"/>
            <a:ext cx="10177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3A"/>
                </a:solidFill>
              </a:rPr>
              <a:t>LTV 倍增效應：建立科學推薦信任後，補充品客戶留存率提升 30–50%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577839"/>
            <a:ext cx="10177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E1A"/>
                </a:solidFill>
              </a:rPr>
              <a:t>→ 1位每月NT$700補充品客戶 × 24個月 = LTV NT$16,800 / 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三階段導入計畫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3566160" cy="4251960"/>
          </a:xfrm>
          <a:prstGeom prst="rect">
            <a:avLst/>
          </a:prstGeom>
          <a:solidFill>
            <a:srgbClr val="F7FBF8"/>
          </a:solidFill>
          <a:ln w="254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3566160" cy="47548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16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10512"/>
            <a:ext cx="2651760" cy="347472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1–3 個月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6B3A"/>
                </a:solidFill>
              </a:rPr>
              <a:t>數據奠基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066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614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Medi-Span DDI 系統全面整合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638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藥師話術培訓 + 補充品知識庫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210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POS 系統補充品推薦模組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782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330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5–10家門市試點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46904"/>
            <a:ext cx="32004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010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試點完成 + 基礎銷售轉換 ≥20%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1261872"/>
            <a:ext cx="3566160" cy="4251960"/>
          </a:xfrm>
          <a:prstGeom prst="rect">
            <a:avLst/>
          </a:prstGeom>
          <a:solidFill>
            <a:srgbClr val="F7FBF8"/>
          </a:solidFill>
          <a:ln w="254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24528" y="1261872"/>
            <a:ext cx="3566160" cy="475488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1316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728" y="1810512"/>
            <a:ext cx="2651760" cy="34747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18288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4–6 個月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96B"/>
                </a:solidFill>
              </a:rPr>
              <a:t>規模化推廣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27066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4568" y="27614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全台 100 家門市部署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31638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32186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DDI→補充品推薦流程標準化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36210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36758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月度績效儀表板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40782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41330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補充品庫存智能優化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4946904"/>
            <a:ext cx="3200400" cy="4572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4528" y="5010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平均每店月增 NT$6,000+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83296" y="1261872"/>
            <a:ext cx="3566160" cy="4251960"/>
          </a:xfrm>
          <a:prstGeom prst="rect">
            <a:avLst/>
          </a:prstGeom>
          <a:solidFill>
            <a:srgbClr val="F7FBF8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3296" y="1261872"/>
            <a:ext cx="3566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83296" y="1316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40496" y="1810512"/>
            <a:ext cx="26517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83296" y="182880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7–12 個月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65C0"/>
                </a:solidFill>
              </a:rPr>
              <a:t>Expert AI 上線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6" y="27066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3336" y="27614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Medi-Span Expert AI 整合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6" y="31638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3336" y="32186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個人化推薦演算法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66176" y="36210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3336" y="36758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患者用藥歷史分析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66176" y="4078224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03336" y="4133088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• 競爭護城河建立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66176" y="4946904"/>
            <a:ext cx="3200400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83296" y="50109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先發優勢鎖定 3–5 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Medi-Span Expert AI — 2026年最新技術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人工智慧 × 藥物情報 × 銷售引擎的三合一平台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" y="1399032"/>
            <a:ext cx="2029968" cy="12344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" y="1655064"/>
            <a:ext cx="20299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掃描處方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0884" y="18516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5204" y="1399032"/>
            <a:ext cx="2029968" cy="1234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5204" y="1655064"/>
            <a:ext cx="20299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DDI偵測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5172" y="18516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9492" y="1399032"/>
            <a:ext cx="2029968" cy="12344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9492" y="1655064"/>
            <a:ext cx="20299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AI配對
補充品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9460" y="18516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3780" y="1399032"/>
            <a:ext cx="2029968" cy="12344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3780" y="1655064"/>
            <a:ext cx="20299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話術提示
推送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3748" y="18516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6B3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88068" y="1399032"/>
            <a:ext cx="2029968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8068" y="1655064"/>
            <a:ext cx="2029968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銷售 +
學習回饋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07792"/>
            <a:ext cx="5303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907792"/>
            <a:ext cx="5303520" cy="54864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6B3A"/>
                </a:solidFill>
              </a:rPr>
              <a:t>數據深度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649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147張真實處方 + 大樹持續累積
→ 台灣本土DDI知識庫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907792"/>
            <a:ext cx="5303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0" y="2907792"/>
            <a:ext cx="5303520" cy="54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</a:rPr>
              <a:t>整合深度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3649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POS + 調劑系統 + 話術AI
→ 工作流完全嵌入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15384"/>
            <a:ext cx="5303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15384"/>
            <a:ext cx="5303520" cy="54864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325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96B"/>
                </a:solidFill>
              </a:rPr>
              <a:t>時間優勢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6725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先部署者建立數據飛輪
→ 後進者難以複製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215384"/>
            <a:ext cx="530352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4215384"/>
            <a:ext cx="530352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325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品牌護城河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6725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「數據藥局」品牌定位
→ 患者信任不可量化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32704"/>
            <a:ext cx="11457432" cy="50292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24144"/>
            <a:ext cx="11091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保守估計：為大樹藥局建立 3–5 年先發競爭優勢，進入者壁壘持續加深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5D6A7"/>
                </a:solidFill>
              </a:rPr>
              <a:t>從決策到行動——兩種命運的選擇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45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</a:rPr>
              <a:t>大樹藥局 × MediSpan × NEOV.AI  ·  數據藥局提案  · 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61872"/>
            <a:ext cx="539496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53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16161"/>
                </a:solidFill>
              </a:rPr>
              <a:t>命運一（現狀繼續）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16161"/>
                </a:solidFill>
              </a:rPr>
              <a:t>• DDI數據只用於合規記錄，未轉換價值</a:t>
            </a:r>
          </a:p>
          <a:p>
            <a:r>
              <a:rPr sz="1200" b="0">
                <a:solidFill>
                  <a:srgbClr val="616161"/>
                </a:solidFill>
              </a:rPr>
              <a:t>• 每月 100+ 次對話機會白白流失</a:t>
            </a:r>
          </a:p>
          <a:p>
            <a:r>
              <a:rPr sz="1200" b="0">
                <a:solidFill>
                  <a:srgbClr val="616161"/>
                </a:solidFill>
              </a:rPr>
              <a:t>• 補充品銷售繼續依賴促銷折扣</a:t>
            </a:r>
          </a:p>
          <a:p>
            <a:r>
              <a:rPr sz="1200" b="0">
                <a:solidFill>
                  <a:srgbClr val="616161"/>
                </a:solidFill>
              </a:rPr>
              <a:t>• 藥師專業無法被量化，信任難以積累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261872"/>
            <a:ext cx="5394960" cy="1508760"/>
          </a:xfrm>
          <a:prstGeom prst="rect">
            <a:avLst/>
          </a:prstGeom>
          <a:solidFill>
            <a:srgbClr val="E8F5EE"/>
          </a:solidFill>
          <a:ln w="254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53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6B3A"/>
                </a:solidFill>
              </a:rPr>
              <a:t>命運二（數據藥局）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19072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B6B3A"/>
                </a:solidFill>
              </a:rPr>
              <a:t>• 每次警示 = 高信任度銷售對話</a:t>
            </a:r>
          </a:p>
          <a:p>
            <a:r>
              <a:rPr sz="1200" b="0">
                <a:solidFill>
                  <a:srgbClr val="1B6B3A"/>
                </a:solidFill>
              </a:rPr>
              <a:t>• 月增 NT$60萬–315萬，低邊際成本</a:t>
            </a:r>
          </a:p>
          <a:p>
            <a:r>
              <a:rPr sz="1200" b="0">
                <a:solidFill>
                  <a:srgbClr val="1B6B3A"/>
                </a:solidFill>
              </a:rPr>
              <a:t>• 藥師話術標準化，可複製可培訓</a:t>
            </a:r>
          </a:p>
          <a:p>
            <a:r>
              <a:rPr sz="1200" b="0">
                <a:solidFill>
                  <a:srgbClr val="1B6B3A"/>
                </a:solidFill>
              </a:rPr>
              <a:t>• 品牌定位：值得信賴的醫療服務專家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53512"/>
            <a:ext cx="1828800" cy="420624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2953512"/>
            <a:ext cx="9628632" cy="420624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2666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時程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026664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行動項目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74136"/>
            <a:ext cx="1828800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374136"/>
            <a:ext cx="9628632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472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Week 1–2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447288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確認 MediSpan API 整合規格 + 補充品品項清單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3794760"/>
            <a:ext cx="9628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8679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Week 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3867912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藥師話術培訓（首批5–10家門市）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15384"/>
            <a:ext cx="1828800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0" y="4215384"/>
            <a:ext cx="9628632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8853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Month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88536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試點數據收集：DDI對話次數 + 補充品轉換率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3600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4636008"/>
            <a:ext cx="96286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7091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Month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709160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數據檢視會議 + 全台展開決策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56632"/>
            <a:ext cx="1828800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94560" y="5056632"/>
            <a:ext cx="9628632" cy="420624"/>
          </a:xfrm>
          <a:prstGeom prst="rect">
            <a:avLst/>
          </a:prstGeom>
          <a:solidFill>
            <a:srgbClr val="E8F5EE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1297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6B3A"/>
                </a:solidFill>
              </a:rPr>
              <a:t>Month 4+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129784"/>
            <a:ext cx="9491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</a:rPr>
              <a:t>Expert AI 功能規劃 + 品牌數據藥局啟動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86984"/>
            <a:ext cx="11457432" cy="548640"/>
          </a:xfrm>
          <a:prstGeom prst="rect">
            <a:avLst/>
          </a:prstGeom>
          <a:solidFill>
            <a:srgbClr val="E8F5EE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678424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1B6B3A"/>
                </a:solidFill>
              </a:rPr>
              <a:t>「從領藥的地方，到值得信賴的醫療服務專家。」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